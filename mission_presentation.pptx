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초기 주행 — 오차(E = L - R) 누적 추이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오차 (Error)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11</c:v>
                </c:pt>
                <c:pt idx="3">
                  <c:v>17</c:v>
                </c:pt>
                <c:pt idx="4">
                  <c:v>24</c:v>
                </c:pt>
                <c:pt idx="5">
                  <c:v>30</c:v>
                </c:pt>
                <c:pt idx="6">
                  <c:v>33</c:v>
                </c:pt>
                <c:pt idx="7">
                  <c:v>34</c:v>
                </c:pt>
                <c:pt idx="8">
                  <c:v>38</c:v>
                </c:pt>
                <c:pt idx="9">
                  <c:v>44</c:v>
                </c:pt>
                <c:pt idx="10">
                  <c:v>46</c:v>
                </c:pt>
                <c:pt idx="11">
                  <c:v>50</c:v>
                </c:pt>
                <c:pt idx="12">
                  <c:v>56</c:v>
                </c:pt>
                <c:pt idx="13">
                  <c:v>57</c:v>
                </c:pt>
                <c:pt idx="14">
                  <c:v>57</c:v>
                </c:pt>
                <c:pt idx="15">
                  <c:v>70</c:v>
                </c:pt>
                <c:pt idx="16">
                  <c:v>70</c:v>
                </c:pt>
                <c:pt idx="17">
                  <c:v>78</c:v>
                </c:pt>
                <c:pt idx="18">
                  <c:v>84</c:v>
                </c:pt>
                <c:pt idx="19">
                  <c:v>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Arial"/>
              </a:rPr>
              <a:t>Kp=18.5 적용 후 L/R 엔코더 카운트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 엔코더</c:v>
                </c:pt>
              </c:strCache>
            </c:strRef>
          </c:tx>
          <c:spPr>
            <a:solidFill>
              <a:srgbClr val="00C8FF"/>
            </a:solidFill>
            <a:ln w="25400" cap="flat">
              <a:solidFill>
                <a:srgbClr val="00C8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8FF"/>
              </a:solidFill>
              <a:ln w="9525" cap="flat">
                <a:solidFill>
                  <a:srgbClr val="00C8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23</c:v>
                </c:pt>
                <c:pt idx="1">
                  <c:v>23</c:v>
                </c:pt>
                <c:pt idx="2">
                  <c:v>42</c:v>
                </c:pt>
                <c:pt idx="3">
                  <c:v>59</c:v>
                </c:pt>
                <c:pt idx="4">
                  <c:v>78</c:v>
                </c:pt>
                <c:pt idx="5">
                  <c:v>94</c:v>
                </c:pt>
                <c:pt idx="6">
                  <c:v>111</c:v>
                </c:pt>
                <c:pt idx="7">
                  <c:v>128</c:v>
                </c:pt>
                <c:pt idx="8">
                  <c:v>165</c:v>
                </c:pt>
                <c:pt idx="9">
                  <c:v>165</c:v>
                </c:pt>
                <c:pt idx="10">
                  <c:v>185</c:v>
                </c:pt>
                <c:pt idx="11">
                  <c:v>204</c:v>
                </c:pt>
                <c:pt idx="12">
                  <c:v>220</c:v>
                </c:pt>
                <c:pt idx="13">
                  <c:v>240</c:v>
                </c:pt>
                <c:pt idx="14">
                  <c:v>255</c:v>
                </c:pt>
                <c:pt idx="15">
                  <c:v>273</c:v>
                </c:pt>
                <c:pt idx="16">
                  <c:v>289</c:v>
                </c:pt>
                <c:pt idx="17">
                  <c:v>309</c:v>
                </c:pt>
                <c:pt idx="18">
                  <c:v>326</c:v>
                </c:pt>
                <c:pt idx="19">
                  <c:v>356</c:v>
                </c:pt>
                <c:pt idx="20">
                  <c:v>375</c:v>
                </c:pt>
                <c:pt idx="21">
                  <c:v>391</c:v>
                </c:pt>
                <c:pt idx="22">
                  <c:v>391</c:v>
                </c:pt>
                <c:pt idx="23">
                  <c:v>409</c:v>
                </c:pt>
                <c:pt idx="24">
                  <c:v>426</c:v>
                </c:pt>
                <c:pt idx="25">
                  <c:v>445</c:v>
                </c:pt>
                <c:pt idx="26">
                  <c:v>462</c:v>
                </c:pt>
                <c:pt idx="27">
                  <c:v>480</c:v>
                </c:pt>
                <c:pt idx="28">
                  <c:v>494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 엔코더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23</c:v>
                </c:pt>
                <c:pt idx="1">
                  <c:v>23</c:v>
                </c:pt>
                <c:pt idx="2">
                  <c:v>41</c:v>
                </c:pt>
                <c:pt idx="3">
                  <c:v>60</c:v>
                </c:pt>
                <c:pt idx="4">
                  <c:v>76</c:v>
                </c:pt>
                <c:pt idx="5">
                  <c:v>93</c:v>
                </c:pt>
                <c:pt idx="6">
                  <c:v>110</c:v>
                </c:pt>
                <c:pt idx="7">
                  <c:v>128</c:v>
                </c:pt>
                <c:pt idx="8">
                  <c:v>165</c:v>
                </c:pt>
                <c:pt idx="9">
                  <c:v>165</c:v>
                </c:pt>
                <c:pt idx="10">
                  <c:v>183</c:v>
                </c:pt>
                <c:pt idx="11">
                  <c:v>204</c:v>
                </c:pt>
                <c:pt idx="12">
                  <c:v>221</c:v>
                </c:pt>
                <c:pt idx="13">
                  <c:v>239</c:v>
                </c:pt>
                <c:pt idx="14">
                  <c:v>254</c:v>
                </c:pt>
                <c:pt idx="15">
                  <c:v>272</c:v>
                </c:pt>
                <c:pt idx="16">
                  <c:v>290</c:v>
                </c:pt>
                <c:pt idx="17">
                  <c:v>307</c:v>
                </c:pt>
                <c:pt idx="18">
                  <c:v>321</c:v>
                </c:pt>
                <c:pt idx="19">
                  <c:v>357</c:v>
                </c:pt>
                <c:pt idx="20">
                  <c:v>373</c:v>
                </c:pt>
                <c:pt idx="21">
                  <c:v>391</c:v>
                </c:pt>
                <c:pt idx="22">
                  <c:v>391</c:v>
                </c:pt>
                <c:pt idx="23">
                  <c:v>407</c:v>
                </c:pt>
                <c:pt idx="24">
                  <c:v>428</c:v>
                </c:pt>
                <c:pt idx="25">
                  <c:v>444</c:v>
                </c:pt>
                <c:pt idx="26">
                  <c:v>459</c:v>
                </c:pt>
                <c:pt idx="27">
                  <c:v>478</c:v>
                </c:pt>
                <c:pt idx="28">
                  <c:v>495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900" b="0" i="0" u="none" strike="noStrike">
                <a:solidFill>
                  <a:srgbClr val="94A3B8"/>
                </a:solidFill>
                <a:latin typeface="Arial"/>
              </a:rPr>
              <a:t>오차 E (Kp=18.5)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오차 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Sheet1!$A$2:$A$30</c:f>
              <c:multiLvlStrCache>
                <c:ptCount val="2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-1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  <c:pt idx="12">
                  <c:v>-1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-1</c:v>
                </c:pt>
                <c:pt idx="17">
                  <c:v>2</c:v>
                </c:pt>
                <c:pt idx="18">
                  <c:v>5</c:v>
                </c:pt>
                <c:pt idx="19">
                  <c:v>-1</c:v>
                </c:pt>
                <c:pt idx="20">
                  <c:v>2</c:v>
                </c:pt>
                <c:pt idx="21">
                  <c:v>0</c:v>
                </c:pt>
                <c:pt idx="22">
                  <c:v>0</c:v>
                </c:pt>
                <c:pt idx="23">
                  <c:v>2</c:v>
                </c:pt>
                <c:pt idx="24">
                  <c:v>-2</c:v>
                </c:pt>
                <c:pt idx="25">
                  <c:v>1</c:v>
                </c:pt>
                <c:pt idx="26">
                  <c:v>3</c:v>
                </c:pt>
                <c:pt idx="27">
                  <c:v>2</c:v>
                </c:pt>
                <c:pt idx="28">
                  <c:v>-1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6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900" b="0" i="0" u="none" strike="noStrike">
                <a:solidFill>
                  <a:srgbClr val="94A3B8"/>
                </a:solidFill>
                <a:latin typeface="Arial"/>
              </a:rPr>
              <a:t>가중치 적용 후 오차 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오차 E (가중치 적용 후)</c:v>
                </c:pt>
              </c:strCache>
            </c:strRef>
          </c:tx>
          <c:spPr>
            <a:solidFill>
              <a:srgbClr val="00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-1</c:v>
                </c:pt>
                <c:pt idx="4">
                  <c:v>-1</c:v>
                </c:pt>
                <c:pt idx="5">
                  <c:v>1</c:v>
                </c:pt>
                <c:pt idx="6">
                  <c:v>-1</c:v>
                </c:pt>
                <c:pt idx="7">
                  <c:v>4</c:v>
                </c:pt>
                <c:pt idx="8">
                  <c:v>-2</c:v>
                </c:pt>
                <c:pt idx="9">
                  <c:v>5</c:v>
                </c:pt>
                <c:pt idx="10">
                  <c:v>-2</c:v>
                </c:pt>
                <c:pt idx="11">
                  <c:v>5</c:v>
                </c:pt>
                <c:pt idx="12">
                  <c:v>-2</c:v>
                </c:pt>
                <c:pt idx="13">
                  <c:v>1</c:v>
                </c:pt>
                <c:pt idx="14">
                  <c:v>0</c:v>
                </c:pt>
                <c:pt idx="15">
                  <c:v>4</c:v>
                </c:pt>
                <c:pt idx="16">
                  <c:v>0</c:v>
                </c:pt>
                <c:pt idx="17">
                  <c:v>1</c:v>
                </c:pt>
                <c:pt idx="18">
                  <c:v>3</c:v>
                </c:pt>
                <c:pt idx="19">
                  <c:v>0</c:v>
                </c:pt>
                <c:pt idx="20">
                  <c:v>2</c:v>
                </c:pt>
                <c:pt idx="21">
                  <c:v>4</c:v>
                </c:pt>
                <c:pt idx="22">
                  <c:v>-1</c:v>
                </c:pt>
                <c:pt idx="23">
                  <c:v>3</c:v>
                </c:pt>
                <c:pt idx="24">
                  <c:v>-2</c:v>
                </c:pt>
                <c:pt idx="25">
                  <c:v>3</c:v>
                </c:pt>
                <c:pt idx="2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6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624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8512" y="0"/>
            <a:ext cx="109728" cy="5143500"/>
          </a:xfrm>
          <a:prstGeom prst="rect">
            <a:avLst/>
          </a:prstGeom>
          <a:solidFill>
            <a:srgbClr val="00C8FF">
              <a:alpha val="7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차륜형 로봇의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2m 정밀 목표 지점 도달 미션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47472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443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엔코더 기반 PID 제어 · 가중치 보정 · 웹 관제 시스템 구현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737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Arduino Uno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703320"/>
            <a:ext cx="1737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ESP32 WebServer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3703320"/>
            <a:ext cx="1737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PID Control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703320"/>
            <a:ext cx="17373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Encoder Log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822960"/>
            <a:ext cx="2103120" cy="210312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143000"/>
            <a:ext cx="1463040" cy="146304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188720"/>
            <a:ext cx="1463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Error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±3→달성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"/>
            <a:ext cx="1810512" cy="2743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 시스템 아키텍처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하드웨어 &amp; 소프트웨어 구성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8FF"/>
                </a:solidFill>
              </a:rPr>
              <a:t>HARDWARE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0" cy="777240"/>
          </a:xfrm>
          <a:prstGeom prst="rect">
            <a:avLst/>
          </a:prstGeom>
          <a:solidFill>
            <a:srgbClr val="7C3AED">
              <a:alpha val="7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좌 모터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엔코더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783080"/>
            <a:ext cx="2011680" cy="777240"/>
          </a:xfrm>
          <a:prstGeom prst="rect">
            <a:avLst/>
          </a:prstGeom>
          <a:solidFill>
            <a:srgbClr val="00C8FF">
              <a:alpha val="75000"/>
            </a:srgbClr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783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Arduino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783080"/>
            <a:ext cx="2011680" cy="777240"/>
          </a:xfrm>
          <a:prstGeom prst="rect">
            <a:avLst/>
          </a:prstGeom>
          <a:solidFill>
            <a:srgbClr val="F59E0B">
              <a:alpha val="7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783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86600" y="1783080"/>
            <a:ext cx="2011680" cy="777240"/>
          </a:xfrm>
          <a:prstGeom prst="rect">
            <a:avLst/>
          </a:prstGeom>
          <a:solidFill>
            <a:srgbClr val="22C55E">
              <a:alpha val="75000"/>
            </a:srgbClr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783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웹 대시보드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(브라우저)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95728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36008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76288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</a:rPr>
              <a:t>SOFTWARE (Arduino Uno)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011680" cy="777240"/>
          </a:xfrm>
          <a:prstGeom prst="rect">
            <a:avLst/>
          </a:prstGeom>
          <a:solidFill>
            <a:srgbClr val="22C55E">
              <a:alpha val="75000"/>
            </a:srgbClr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063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엔코더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인터럽트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063240"/>
            <a:ext cx="2011680" cy="777240"/>
          </a:xfrm>
          <a:prstGeom prst="rect">
            <a:avLst/>
          </a:prstGeom>
          <a:solidFill>
            <a:srgbClr val="F59E0B">
              <a:alpha val="7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0" y="3063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오차 계산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 = L-(R×w)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063240"/>
            <a:ext cx="2011680" cy="777240"/>
          </a:xfrm>
          <a:prstGeom prst="rect">
            <a:avLst/>
          </a:prstGeom>
          <a:solidFill>
            <a:srgbClr val="EF4444">
              <a:alpha val="75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063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PID 연산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(dt 기반)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3063240"/>
            <a:ext cx="2011680" cy="777240"/>
          </a:xfrm>
          <a:prstGeom prst="rect">
            <a:avLst/>
          </a:prstGeom>
          <a:solidFill>
            <a:srgbClr val="7C3AED">
              <a:alpha val="75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0" y="3063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PWM 출력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(50~150)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49440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41648"/>
            <a:ext cx="8412480" cy="841248"/>
          </a:xfrm>
          <a:prstGeom prst="rect">
            <a:avLst/>
          </a:prstGeom>
          <a:solidFill>
            <a:srgbClr val="1A2235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0965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🌐  논블로킹 구조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delay() 완전 제거  →  </a:t>
            </a:r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millis() 타이머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  |   Serial.setTimeout(10ms)   |   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0.2초 상시 보고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"/>
            <a:ext cx="1645920" cy="27432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 문제 정의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제로베이스: P제어 없이 오차가 폭주했다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72768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572768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1572768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618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100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63640" y="2057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최대 오차 (틱)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2688336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2688336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734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↑폭증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263640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갈수록 커지는 패턴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3803904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803904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8496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0%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263640" y="42885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오차 0 스텝 없음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80760" y="4288536"/>
            <a:ext cx="2743200" cy="54864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4297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59E0B"/>
                </a:solidFill>
              </a:rPr>
              <a:t>원인: P제어 부재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59E0B"/>
                </a:solidFill>
              </a:rPr>
              <a:t>→ 좌우 모터 성능 편차 무보정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"/>
            <a:ext cx="1810512" cy="274320"/>
          </a:xfrm>
          <a:prstGeom prst="rect">
            <a:avLst/>
          </a:prstGeom>
          <a:solidFill>
            <a:srgbClr val="00C8FF">
              <a:alpha val="7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 Kp 튜닝 로그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Kp = 18.5에서 오차 ±3으로 안정화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572768"/>
          <a:ext cx="51206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65760" y="3749040"/>
          <a:ext cx="512064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572768"/>
            <a:ext cx="315468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806440" y="16184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Before (P제어 없음)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806440" y="19659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최대 오차: 100틱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갈수록 폭증 → 직진 불가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0" y="3355848"/>
            <a:ext cx="315468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06440" y="34015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After (Kp = 18.5)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80644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최대 오차: ±5틱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대부분 ±2 이내 안정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903720" y="3127248"/>
            <a:ext cx="457200" cy="457200"/>
          </a:xfrm>
          <a:prstGeom prst="ellipse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037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"/>
            <a:ext cx="2441448" cy="27432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 가중치(Weight) 보정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엔코더 정상 → 물리적 편차 원인 분석 &amp; 해결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바퀴 슬립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오른쪽 바퀴 마찰계수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차이로 인한 미끄러짐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72768"/>
            <a:ext cx="265176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72768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무게중심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96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섀시 무게 분포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불균형으로 편향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265176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72768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6276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휠 얼라인먼트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496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모터 장착 각도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미세 편차 누적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36392"/>
            <a:ext cx="5029200" cy="11887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200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</a:rPr>
              <a:t>해결: rightWeight 가중치 적용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547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leftTicks − (rightTicks × rightWeight)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 오른쪽 물리적 이득 보상 → 직진 보정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577840" y="3090672"/>
          <a:ext cx="32918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75488"/>
            <a:ext cx="2020824" cy="2743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 최종 결과 &amp; 결론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3단계 개선으로 목표 달성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00584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제로베이스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P제어 없음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오차 최대 100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3580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572768"/>
            <a:ext cx="265176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572768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37560" y="2194560"/>
            <a:ext cx="1005840" cy="2560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194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Kp = 18.5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2852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오차 ±5 이내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직진 불량 잔존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70448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5040" y="1572768"/>
            <a:ext cx="265176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572768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172200" y="2194560"/>
            <a:ext cx="1005840" cy="25603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194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STEP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가중치 적용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오차 ±5 이내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직진 안정화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93008"/>
            <a:ext cx="411480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  현재 시스템 한계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9136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엔코더 정상인데 직진 불량 → 물리 편차 완전 해소 어려움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가중치 값 환경마다 재보정 필요 (바닥면 마찰 변화)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저분해능 엔코더(40틱/rev) → 정밀도 한계 존재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114800" cy="148132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🚀  향후 개선 방향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9136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고분해능 엔코더 교체 → 정밀도 향상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I·D 제어 추가 → steady-state 오차 완전 제거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S-Curve 가감속 → 속도 &amp; 정밀도 동시 향상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결론: 제로베이스 오차 100 → P제어(Kp=18.5) + 가중치 보정으로 ±5 이내 달성. 데이터 기반 3단계 반복 개선 과정 완료.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차륜형 로봇의 2m 정밀 목표 지점 도달 미션</dc:title>
  <dc:subject>PptxGenJS Presentation</dc:subject>
  <dc:creator>PptxGenJS</dc:creator>
  <cp:lastModifiedBy>PptxGenJS</cp:lastModifiedBy>
  <cp:revision>1</cp:revision>
  <dcterms:created xsi:type="dcterms:W3CDTF">2026-04-01T14:48:08Z</dcterms:created>
  <dcterms:modified xsi:type="dcterms:W3CDTF">2026-04-01T14:48:08Z</dcterms:modified>
</cp:coreProperties>
</file>